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jec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jec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191500" y="-1238250"/>
            <a:ext cx="4762500" cy="4762500"/>
            <a:chOff x="8191500" y="-1238250"/>
            <a:chExt cx="4762500" cy="4762500"/>
          </a:xfrm>
        </p:grpSpPr>
        <p:sp>
          <p:nvSpPr>
            <p:cNvPr id="2" name="Ellipse 2"/>
            <p:cNvSpPr/>
            <p:nvPr/>
          </p:nvSpPr>
          <p:spPr>
            <a:xfrm>
              <a:off x="8191500" y="-1238250"/>
              <a:ext cx="4762500" cy="4762500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477250" y="523875"/>
              <a:ext cx="2857500" cy="28575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667750" y="952500"/>
            <a:ext cx="2238375" cy="1762125"/>
            <a:chOff x="8667750" y="952500"/>
            <a:chExt cx="2238375" cy="1762125"/>
          </a:xfrm>
        </p:grpSpPr>
        <p:sp>
          <p:nvSpPr>
            <p:cNvPr id="5" name="Line 5"/>
            <p:cNvSpPr/>
            <p:nvPr/>
          </p:nvSpPr>
          <p:spPr>
            <a:xfrm>
              <a:off x="8715375" y="1000125"/>
              <a:ext cx="1143000" cy="476250"/>
            </a:xfrm>
            <a:custGeom>
              <a:avLst/>
              <a:gdLst/>
              <a:ahLst/>
              <a:cxnLst/>
              <a:rect l="l" t="t" r="r" b="b"/>
              <a:pathLst>
                <a:path w="1143000" h="476250">
                  <a:moveTo>
                    <a:pt x="0" y="476250"/>
                  </a:moveTo>
                  <a:lnTo>
                    <a:pt x="1143000" y="0"/>
                  </a:lnTo>
                </a:path>
              </a:pathLst>
            </a:custGeom>
            <a:noFill/>
            <a:ln w="14288">
              <a:solidFill>
                <a:schemeClr val="dk1">
                  <a:alpha val="18000"/>
                </a:schemeClr>
              </a:solidFill>
              <a:custDash>
                <a:ds d="333333" sp="533333"/>
              </a:custDash>
            </a:ln>
          </p:spPr>
        </p:sp>
        <p:sp>
          <p:nvSpPr>
            <p:cNvPr id="6" name="Line 6"/>
            <p:cNvSpPr/>
            <p:nvPr/>
          </p:nvSpPr>
          <p:spPr>
            <a:xfrm>
              <a:off x="9858375" y="1000125"/>
              <a:ext cx="1000125" cy="762000"/>
            </a:xfrm>
            <a:custGeom>
              <a:avLst/>
              <a:gdLst/>
              <a:ahLst/>
              <a:cxnLst/>
              <a:rect l="l" t="t" r="r" b="b"/>
              <a:pathLst>
                <a:path w="1000125" h="762000">
                  <a:moveTo>
                    <a:pt x="0" y="0"/>
                  </a:moveTo>
                  <a:lnTo>
                    <a:pt x="1000125" y="762000"/>
                  </a:lnTo>
                </a:path>
              </a:pathLst>
            </a:custGeom>
            <a:noFill/>
            <a:ln w="14288">
              <a:solidFill>
                <a:schemeClr val="dk1">
                  <a:alpha val="18000"/>
                </a:schemeClr>
              </a:solidFill>
              <a:custDash>
                <a:ds d="333333" sp="533333"/>
              </a:custDash>
            </a:ln>
          </p:spPr>
        </p:sp>
        <p:sp>
          <p:nvSpPr>
            <p:cNvPr id="7" name="Line 7"/>
            <p:cNvSpPr/>
            <p:nvPr/>
          </p:nvSpPr>
          <p:spPr>
            <a:xfrm>
              <a:off x="9620250" y="1762125"/>
              <a:ext cx="1238250" cy="904875"/>
            </a:xfrm>
            <a:custGeom>
              <a:avLst/>
              <a:gdLst/>
              <a:ahLst/>
              <a:cxnLst/>
              <a:rect l="l" t="t" r="r" b="b"/>
              <a:pathLst>
                <a:path w="1238250" h="904875">
                  <a:moveTo>
                    <a:pt x="1238250" y="0"/>
                  </a:moveTo>
                  <a:lnTo>
                    <a:pt x="0" y="904875"/>
                  </a:lnTo>
                </a:path>
              </a:pathLst>
            </a:custGeom>
            <a:noFill/>
            <a:ln w="14288">
              <a:solidFill>
                <a:schemeClr val="dk1">
                  <a:alpha val="18000"/>
                </a:schemeClr>
              </a:solidFill>
              <a:custDash>
                <a:ds d="333333" sp="533333"/>
              </a:custDash>
            </a:ln>
          </p:spPr>
        </p:sp>
        <p:sp>
          <p:nvSpPr>
            <p:cNvPr id="8" name="Ellipse 8"/>
            <p:cNvSpPr/>
            <p:nvPr/>
          </p:nvSpPr>
          <p:spPr>
            <a:xfrm>
              <a:off x="8667750" y="1428750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810750" y="9525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810875" y="1714500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572625" y="26193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92836" y="723900"/>
            <a:ext cx="7123694" cy="3318701"/>
            <a:chOff x="592836" y="723900"/>
            <a:chExt cx="7123694" cy="3318701"/>
          </a:xfrm>
        </p:grpSpPr>
        <p:sp>
          <p:nvSpPr>
            <p:cNvPr id="13" name="Rectangle 13"/>
            <p:cNvSpPr/>
            <p:nvPr/>
          </p:nvSpPr>
          <p:spPr>
            <a:xfrm>
              <a:off x="609600" y="723900"/>
              <a:ext cx="236220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5716" y="829628"/>
              <a:ext cx="2054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spc="112" dirty="0">
                  <a:solidFill>
                    <a:srgbClr val="0D1220"/>
                  </a:solidFill>
                  <a:latin typeface="+mn-lt"/>
                  <a:ea typeface="+mn-ea"/>
                  <a:cs typeface="+mn-cs"/>
                </a:rPr>
                <a:t>MARKETING TRENDS 2026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2836" y="1834515"/>
              <a:ext cx="259904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 마케팅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2836" y="2463165"/>
              <a:ext cx="71236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예산은 성과를 보여준 쪽으로 간다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1980" y="3267075"/>
              <a:ext cx="5722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98A2C0"/>
                  </a:solidFill>
                  <a:latin typeface="+mn-lt"/>
                  <a:ea typeface="+mn-ea"/>
                  <a:cs typeface="+mn-cs"/>
                </a:rPr>
                <a:t>AI·미디어·소비자 변화가 한국 마케팅 실무에 착지하는 방식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2742" y="3778568"/>
              <a:ext cx="5275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시장 전체보다, 성과를 증명하는 조직 쪽으로 예산이 이동하는 해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5048250"/>
            <a:ext cx="3714750" cy="76200"/>
            <a:chOff x="609600" y="5048250"/>
            <a:chExt cx="3714750" cy="76200"/>
          </a:xfrm>
        </p:grpSpPr>
        <p:sp>
          <p:nvSpPr>
            <p:cNvPr id="20" name="Rectangle 20"/>
            <p:cNvSpPr/>
            <p:nvPr/>
          </p:nvSpPr>
          <p:spPr>
            <a:xfrm>
              <a:off x="609600" y="5048250"/>
              <a:ext cx="18097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495550" y="5048250"/>
              <a:ext cx="1066800" cy="76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638550" y="5048250"/>
              <a:ext cx="68580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04838" y="512445"/>
            <a:ext cx="10982324" cy="5776912"/>
            <a:chOff x="604838" y="512445"/>
            <a:chExt cx="10982324" cy="5776912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113145"/>
              <a:ext cx="21819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98A2C0"/>
                  </a:solidFill>
                  <a:latin typeface="+mn-lt"/>
                  <a:ea typeface="+mn-ea"/>
                  <a:cs typeface="+mn-cs"/>
                </a:rPr>
                <a:t>© 2026 Peppinch · All rights reserved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71758" y="512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98A2C0"/>
                  </a:solidFill>
                  <a:latin typeface="+mn-lt"/>
                  <a:ea typeface="+mn-ea"/>
                  <a:cs typeface="+mn-cs"/>
                </a:rPr>
                <a:t>01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667702"/>
            <a:ext cx="9538212" cy="941833"/>
            <a:chOff x="593598" y="667702"/>
            <a:chExt cx="9538212" cy="94183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667702"/>
              <a:ext cx="14612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chemeClr val="accent1"/>
                  </a:solidFill>
                  <a:latin typeface="Pretendard"/>
                  <a:ea typeface="Pretendard"/>
                  <a:cs typeface="Pretendard"/>
                </a:rPr>
                <a:t>EXECUTIVE SUMMARY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93458"/>
              <a:ext cx="95382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시장은 제자리, 예산은 성과 있는 쪽으로 몰린다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866900"/>
            <a:ext cx="5219700" cy="3429000"/>
            <a:chOff x="609600" y="1866900"/>
            <a:chExt cx="5219700" cy="3429000"/>
          </a:xfrm>
        </p:grpSpPr>
        <p:sp>
          <p:nvSpPr>
            <p:cNvPr id="5" name="Rectangle 5"/>
            <p:cNvSpPr/>
            <p:nvPr/>
          </p:nvSpPr>
          <p:spPr>
            <a:xfrm>
              <a:off x="609600" y="1866900"/>
              <a:ext cx="5219700" cy="3429000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5000"/>
              </a:srgbClr>
            </a:solidFill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7542" y="2121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시장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8398" y="2612708"/>
              <a:ext cx="334915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17조 2,717억 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7542" y="31689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2025년 국내 총광고비 전망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14400" y="3714750"/>
              <a:ext cx="4476750" cy="9525"/>
            </a:xfrm>
            <a:custGeom>
              <a:avLst/>
              <a:gdLst/>
              <a:ahLst/>
              <a:cxnLst/>
              <a:rect l="l" t="t" r="r" b="b"/>
              <a:pathLst>
                <a:path w="4476750" h="9525">
                  <a:moveTo>
                    <a:pt x="0" y="0"/>
                  </a:moveTo>
                  <a:lnTo>
                    <a:pt x="4476750" y="0"/>
                  </a:lnTo>
                </a:path>
              </a:pathLst>
            </a:custGeom>
            <a:noFill/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7542" y="3950018"/>
              <a:ext cx="2358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방송은 줄고 온라인은 커진다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4407218"/>
              <a:ext cx="2594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성장이 아니라 예산의 자리 이동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57900" y="1866900"/>
            <a:ext cx="5524500" cy="3429000"/>
            <a:chOff x="6057900" y="1866900"/>
            <a:chExt cx="5524500" cy="3429000"/>
          </a:xfrm>
        </p:grpSpPr>
        <p:sp>
          <p:nvSpPr>
            <p:cNvPr id="13" name="Rectangle 13"/>
            <p:cNvSpPr/>
            <p:nvPr/>
          </p:nvSpPr>
          <p:spPr>
            <a:xfrm>
              <a:off x="6057900" y="1866900"/>
              <a:ext cx="5524500" cy="3429000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5000"/>
              </a:srgbClr>
            </a:solidFill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55842" y="2121218"/>
              <a:ext cx="795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성과 격차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46698" y="2574608"/>
              <a:ext cx="26590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2"/>
                  </a:solidFill>
                  <a:latin typeface="Pretendard"/>
                  <a:ea typeface="Malgun Gothic"/>
                  <a:cs typeface="Pretendard"/>
                </a:rPr>
                <a:t>4.5배 vs 2배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55842" y="3130868"/>
              <a:ext cx="3012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상위 5% 조직 vs 평균 기술 투자 수익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52794" y="3675698"/>
              <a:ext cx="266590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예산은 시장이 아니라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2794" y="4075748"/>
              <a:ext cx="2941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증명된 성과를 따라간다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5619750"/>
            <a:ext cx="4095750" cy="361950"/>
            <a:chOff x="609600" y="5619750"/>
            <a:chExt cx="4095750" cy="361950"/>
          </a:xfrm>
        </p:grpSpPr>
        <p:sp>
          <p:nvSpPr>
            <p:cNvPr id="20" name="Rectangle 20"/>
            <p:cNvSpPr/>
            <p:nvPr/>
          </p:nvSpPr>
          <p:spPr>
            <a:xfrm>
              <a:off x="609600" y="5619750"/>
              <a:ext cx="4095750" cy="36195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5338" y="5760720"/>
              <a:ext cx="21419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✓ 이 페이지 수치 5/5 — 출처 원문 대조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4838" y="512445"/>
            <a:ext cx="10982324" cy="5929312"/>
            <a:chOff x="604838" y="512445"/>
            <a:chExt cx="10982324" cy="5929312"/>
          </a:xfrm>
        </p:grpSpPr>
        <p:sp>
          <p:nvSpPr>
            <p:cNvPr id="23" name="TextBox 23"/>
            <p:cNvSpPr txBox="1"/>
            <p:nvPr/>
          </p:nvSpPr>
          <p:spPr>
            <a:xfrm>
              <a:off x="11171758" y="512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02 / 16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4838" y="6265545"/>
              <a:ext cx="19897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KOBACO · KPMG · McKinsey · PwC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93598" y="783908"/>
            <a:ext cx="922515" cy="616077"/>
            <a:chOff x="593598" y="783908"/>
            <a:chExt cx="922515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78390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목차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984248" y="1965008"/>
            <a:ext cx="7540752" cy="2902077"/>
            <a:chOff x="1984248" y="1965008"/>
            <a:chExt cx="7540752" cy="2902077"/>
          </a:xfrm>
        </p:grpSpPr>
        <p:sp>
          <p:nvSpPr>
            <p:cNvPr id="4" name="TextBox 4"/>
            <p:cNvSpPr txBox="1"/>
            <p:nvPr/>
          </p:nvSpPr>
          <p:spPr>
            <a:xfrm>
              <a:off x="1984248" y="19650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133344" y="2056448"/>
              <a:ext cx="33825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예산을 흔드는 네 가지 변화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3143250" y="245745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9525">
              <a:solidFill>
                <a:srgbClr val="FFFFFF">
                  <a:alpha val="12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84248" y="31080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133344" y="3199448"/>
              <a:ext cx="30242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아직 판단하기 이른 것들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3143250" y="360045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9525">
              <a:solidFill>
                <a:srgbClr val="FFFFFF">
                  <a:alpha val="12000"/>
                </a:srgb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84248" y="42510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33344" y="4342448"/>
              <a:ext cx="14806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결론과 제언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4838" y="512445"/>
            <a:ext cx="10982324" cy="5929312"/>
            <a:chOff x="604838" y="512445"/>
            <a:chExt cx="10982324" cy="5929312"/>
          </a:xfrm>
        </p:grpSpPr>
        <p:sp>
          <p:nvSpPr>
            <p:cNvPr id="13" name="TextBox 13"/>
            <p:cNvSpPr txBox="1"/>
            <p:nvPr/>
          </p:nvSpPr>
          <p:spPr>
            <a:xfrm>
              <a:off x="11171758" y="512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03 / 16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4838" y="6265545"/>
              <a:ext cx="21819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© 2026 Peppinch · All rights reserved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686752"/>
            <a:ext cx="9983468" cy="941833"/>
            <a:chOff x="593598" y="686752"/>
            <a:chExt cx="9983468" cy="94183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686752"/>
              <a:ext cx="9986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chemeClr val="accent1"/>
                  </a:solidFill>
                  <a:latin typeface="Pretendard"/>
                  <a:ea typeface="Pretendard"/>
                  <a:cs typeface="Pretendard"/>
                </a:rPr>
                <a:t>MARKET SHIFT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12508"/>
              <a:ext cx="99834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한국 광고비는 제자리 — 방송에서 온라인으로 이동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866900"/>
            <a:ext cx="3143250" cy="3714750"/>
            <a:chOff x="609600" y="1866900"/>
            <a:chExt cx="3143250" cy="3714750"/>
          </a:xfrm>
        </p:grpSpPr>
        <p:sp>
          <p:nvSpPr>
            <p:cNvPr id="5" name="Rectangle 5"/>
            <p:cNvSpPr/>
            <p:nvPr/>
          </p:nvSpPr>
          <p:spPr>
            <a:xfrm>
              <a:off x="609600" y="1866900"/>
              <a:ext cx="3143250" cy="3714750"/>
            </a:xfrm>
            <a:prstGeom prst="roundRect">
              <a:avLst>
                <a:gd name="adj" fmla="val 5455"/>
              </a:avLst>
            </a:prstGeom>
            <a:solidFill>
              <a:schemeClr val="accent1">
                <a:alpha val="12000"/>
              </a:schemeClr>
            </a:solidFill>
            <a:ln w="9525">
              <a:solidFill>
                <a:schemeClr val="accent1">
                  <a:alpha val="45000"/>
                </a:scheme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8492" y="2140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총광고비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79348" y="2612708"/>
              <a:ext cx="14568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17.1조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492" y="318801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Pretendard"/>
                  <a:cs typeface="Pretendard"/>
                </a:rPr>
                <a:t>2024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9348" y="3660458"/>
              <a:ext cx="14568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17.3조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8492" y="4235768"/>
              <a:ext cx="831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2025 전망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8492" y="4902518"/>
              <a:ext cx="15039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증가 폭은 1% 미만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057650" y="1866900"/>
            <a:ext cx="7524750" cy="3714750"/>
            <a:chOff x="4057650" y="1866900"/>
            <a:chExt cx="7524750" cy="3714750"/>
          </a:xfrm>
        </p:grpSpPr>
        <p:sp>
          <p:nvSpPr>
            <p:cNvPr id="13" name="Rectangle 13"/>
            <p:cNvSpPr/>
            <p:nvPr/>
          </p:nvSpPr>
          <p:spPr>
            <a:xfrm>
              <a:off x="4057650" y="1866900"/>
              <a:ext cx="7524750" cy="3714750"/>
            </a:xfrm>
            <a:prstGeom prst="roundRect">
              <a:avLst>
                <a:gd name="adj" fmla="val 4615"/>
              </a:avLst>
            </a:prstGeom>
            <a:solidFill>
              <a:srgbClr val="FFFFFF">
                <a:alpha val="5000"/>
              </a:srgbClr>
            </a:solidFill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352544" y="2113598"/>
              <a:ext cx="39338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같은 시장 안에서 자리만 바뀐다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62450" y="2781300"/>
              <a:ext cx="6381750" cy="609600"/>
            </a:xfrm>
            <a:prstGeom prst="roundRect">
              <a:avLst>
                <a:gd name="adj" fmla="val 18750"/>
              </a:avLst>
            </a:prstGeom>
            <a:solidFill>
              <a:schemeClr val="accent3">
                <a:alpha val="45000"/>
              </a:scheme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65142" y="3016568"/>
              <a:ext cx="2203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방송 광고비 4.0조 → 2.8조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362450" y="3619500"/>
              <a:ext cx="6381750" cy="609600"/>
            </a:xfrm>
            <a:prstGeom prst="roundRect">
              <a:avLst>
                <a:gd name="adj" fmla="val 18750"/>
              </a:avLst>
            </a:prstGeom>
            <a:solidFill>
              <a:schemeClr val="accent1">
                <a:alpha val="28000"/>
              </a:scheme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65142" y="3854768"/>
              <a:ext cx="24853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온라인 광고비 8.7조 → 10.7조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54830" y="4600575"/>
              <a:ext cx="2246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chemeClr val="accent2"/>
                  </a:solidFill>
                  <a:latin typeface="Pretendard"/>
                  <a:ea typeface="Malgun Gothic"/>
                  <a:cs typeface="Pretendard"/>
                </a:rPr>
                <a:t>2024 온라인 비중 59.0%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55592" y="5016818"/>
              <a:ext cx="27488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예산 가정은 시장 성장 0에서 시작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4838" y="512445"/>
            <a:ext cx="10982324" cy="5929312"/>
            <a:chOff x="604838" y="512445"/>
            <a:chExt cx="10982324" cy="5929312"/>
          </a:xfrm>
        </p:grpSpPr>
        <p:sp>
          <p:nvSpPr>
            <p:cNvPr id="22" name="TextBox 22"/>
            <p:cNvSpPr txBox="1"/>
            <p:nvPr/>
          </p:nvSpPr>
          <p:spPr>
            <a:xfrm>
              <a:off x="11171758" y="512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04 / 16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4838" y="6265545"/>
              <a:ext cx="19157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방송통신광고비 조사 · WPP Media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7239000" y="666750"/>
            <a:ext cx="4000500" cy="4000500"/>
          </a:xfrm>
          <a:prstGeom prst="ellipse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98398" y="1850708"/>
            <a:ext cx="5464123" cy="1919287"/>
            <a:chOff x="898398" y="1850708"/>
            <a:chExt cx="5464123" cy="1919287"/>
          </a:xfrm>
        </p:grpSpPr>
        <p:sp>
          <p:nvSpPr>
            <p:cNvPr id="3" name="TextBox 3"/>
            <p:cNvSpPr txBox="1"/>
            <p:nvPr/>
          </p:nvSpPr>
          <p:spPr>
            <a:xfrm>
              <a:off x="898398" y="1850708"/>
              <a:ext cx="14669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PART 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8398" y="2765108"/>
              <a:ext cx="546412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예산을 흔드는 네 가지 변화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76625"/>
              <a:ext cx="40797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검색 · AI 제작 · 에이전틱 AI · 마케팅 예산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4838" y="512445"/>
            <a:ext cx="10982324" cy="5929312"/>
            <a:chOff x="604838" y="512445"/>
            <a:chExt cx="10982324" cy="5929312"/>
          </a:xfrm>
        </p:grpSpPr>
        <p:sp>
          <p:nvSpPr>
            <p:cNvPr id="7" name="TextBox 7"/>
            <p:cNvSpPr txBox="1"/>
            <p:nvPr/>
          </p:nvSpPr>
          <p:spPr>
            <a:xfrm>
              <a:off x="11171758" y="512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05 / 16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4838" y="6265545"/>
              <a:ext cx="21819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© 2026 Peppinch · All rights reserved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667702"/>
            <a:ext cx="7441730" cy="960883"/>
            <a:chOff x="593598" y="667702"/>
            <a:chExt cx="7441730" cy="96088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667702"/>
              <a:ext cx="7750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첫째 — 검색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12508"/>
              <a:ext cx="744173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쓰임새별로 네이버와 AI로 갈라진다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905000"/>
            <a:ext cx="10972800" cy="2286000"/>
            <a:chOff x="609600" y="1905000"/>
            <a:chExt cx="10972800" cy="2286000"/>
          </a:xfrm>
        </p:grpSpPr>
        <p:sp>
          <p:nvSpPr>
            <p:cNvPr id="5" name="Rectangle 5"/>
            <p:cNvSpPr/>
            <p:nvPr/>
          </p:nvSpPr>
          <p:spPr>
            <a:xfrm>
              <a:off x="609600" y="1905000"/>
              <a:ext cx="5219700" cy="2286000"/>
            </a:xfrm>
            <a:prstGeom prst="roundRect">
              <a:avLst>
                <a:gd name="adj" fmla="val 7500"/>
              </a:avLst>
            </a:prstGeom>
            <a:solidFill>
              <a:srgbClr val="FFFFFF">
                <a:alpha val="5000"/>
              </a:srgbClr>
            </a:solidFill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6780" y="2181225"/>
              <a:ext cx="8835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생활 정보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8398" y="2765108"/>
              <a:ext cx="2814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네이버 67.1%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7542" y="3416618"/>
              <a:ext cx="19946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익숙한 탐색과 지역 정보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57900" y="1905000"/>
              <a:ext cx="5524500" cy="2286000"/>
            </a:xfrm>
            <a:prstGeom prst="roundRect">
              <a:avLst>
                <a:gd name="adj" fmla="val 7500"/>
              </a:avLst>
            </a:prstGeom>
            <a:solidFill>
              <a:srgbClr val="FFFFFF">
                <a:alpha val="5000"/>
              </a:srgbClr>
            </a:solidFill>
            <a:ln w="9525">
              <a:solidFill>
                <a:schemeClr val="accent2">
                  <a:alpha val="35000"/>
                </a:scheme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355080" y="2181225"/>
              <a:ext cx="934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업무·학습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46698" y="2765108"/>
              <a:ext cx="35133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2"/>
                  </a:solidFill>
                  <a:latin typeface="Pretendard"/>
                  <a:ea typeface="Malgun Gothic"/>
                  <a:cs typeface="Pretendard"/>
                </a:rPr>
                <a:t>생성형 AI 36.5%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5842" y="3416618"/>
              <a:ext cx="15766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답을 합성하는 탐색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4533900"/>
            <a:ext cx="10972800" cy="1066800"/>
            <a:chOff x="609600" y="4533900"/>
            <a:chExt cx="10972800" cy="1066800"/>
          </a:xfrm>
        </p:grpSpPr>
        <p:sp>
          <p:nvSpPr>
            <p:cNvPr id="14" name="Rectangle 14"/>
            <p:cNvSpPr/>
            <p:nvPr/>
          </p:nvSpPr>
          <p:spPr>
            <a:xfrm>
              <a:off x="609600" y="4533900"/>
              <a:ext cx="10972800" cy="1066800"/>
            </a:xfrm>
            <a:prstGeom prst="roundRect">
              <a:avLst>
                <a:gd name="adj" fmla="val 16071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7542" y="4807268"/>
              <a:ext cx="795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운영 기준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4494" y="5123498"/>
              <a:ext cx="78686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AI 경유 유입 10% 전까지는 소액 테스트, 넘으면 본예산 검토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4838" y="512445"/>
            <a:ext cx="10982324" cy="5929312"/>
            <a:chOff x="604838" y="512445"/>
            <a:chExt cx="10982324" cy="5929312"/>
          </a:xfrm>
        </p:grpSpPr>
        <p:sp>
          <p:nvSpPr>
            <p:cNvPr id="18" name="TextBox 18"/>
            <p:cNvSpPr txBox="1"/>
            <p:nvPr/>
          </p:nvSpPr>
          <p:spPr>
            <a:xfrm>
              <a:off x="11171758" y="512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06 / 16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4838" y="6265545"/>
              <a:ext cx="28108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오픈서베이 · 나스미디어 · WPP Media · NAVER IR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667702"/>
            <a:ext cx="8336022" cy="960883"/>
            <a:chOff x="593598" y="667702"/>
            <a:chExt cx="8336022" cy="96088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667702"/>
              <a:ext cx="9986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둘째 — AI 제작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12508"/>
              <a:ext cx="83360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싸게 만드는 건 해결, 믿게 만드는 게 숙제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924050"/>
            <a:ext cx="4762500" cy="3143250"/>
            <a:chOff x="609600" y="1924050"/>
            <a:chExt cx="4762500" cy="3143250"/>
          </a:xfrm>
        </p:grpSpPr>
        <p:sp>
          <p:nvSpPr>
            <p:cNvPr id="5" name="Rectangle 5"/>
            <p:cNvSpPr/>
            <p:nvPr/>
          </p:nvSpPr>
          <p:spPr>
            <a:xfrm>
              <a:off x="609600" y="1924050"/>
              <a:ext cx="4762500" cy="3143250"/>
            </a:xfrm>
            <a:prstGeom prst="roundRect">
              <a:avLst>
                <a:gd name="adj" fmla="val 5455"/>
              </a:avLst>
            </a:prstGeom>
            <a:solidFill>
              <a:srgbClr val="FFFFFF">
                <a:alpha val="5000"/>
              </a:srgbClr>
            </a:solidFill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6780" y="221932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이미지 1장 제작비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8398" y="2746058"/>
              <a:ext cx="141229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3"/>
                  </a:solidFill>
                  <a:latin typeface="Pretendard"/>
                  <a:ea typeface="Malgun Gothic"/>
                  <a:cs typeface="Pretendard"/>
                </a:rPr>
                <a:t>45유로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4494" y="3351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8398" y="3908108"/>
              <a:ext cx="11674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4유로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7542" y="4521518"/>
              <a:ext cx="1812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비용 문제는 거의 해결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600700" y="1924050"/>
            <a:ext cx="5981700" cy="3143250"/>
            <a:chOff x="5600700" y="1924050"/>
            <a:chExt cx="5981700" cy="3143250"/>
          </a:xfrm>
        </p:grpSpPr>
        <p:sp>
          <p:nvSpPr>
            <p:cNvPr id="12" name="Rectangle 12"/>
            <p:cNvSpPr/>
            <p:nvPr/>
          </p:nvSpPr>
          <p:spPr>
            <a:xfrm>
              <a:off x="5600700" y="1924050"/>
              <a:ext cx="5981700" cy="3143250"/>
            </a:xfrm>
            <a:prstGeom prst="roundRect">
              <a:avLst>
                <a:gd name="adj" fmla="val 5455"/>
              </a:avLst>
            </a:prstGeom>
            <a:solidFill>
              <a:srgbClr val="FFFFFF">
                <a:alpha val="5000"/>
              </a:srgbClr>
            </a:solidFill>
            <a:ln w="9525">
              <a:solidFill>
                <a:schemeClr val="accent2">
                  <a:alpha val="35000"/>
                </a:scheme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97880" y="2219325"/>
              <a:ext cx="1882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AI 광고 브랜드 신뢰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89498" y="2822258"/>
              <a:ext cx="18798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긍정 16%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89498" y="3565208"/>
              <a:ext cx="18798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B42318"/>
                  </a:solidFill>
                  <a:latin typeface="Pretendard"/>
                  <a:ea typeface="Malgun Gothic"/>
                  <a:cs typeface="Pretendard"/>
                </a:rPr>
                <a:t>부정 33%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98642" y="4331018"/>
              <a:ext cx="2957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주목도보다 신뢰와 구매 의향이 낮다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5334000"/>
            <a:ext cx="10972800" cy="514350"/>
            <a:chOff x="609600" y="5334000"/>
            <a:chExt cx="10972800" cy="514350"/>
          </a:xfrm>
        </p:grpSpPr>
        <p:sp>
          <p:nvSpPr>
            <p:cNvPr id="18" name="Rectangle 18"/>
            <p:cNvSpPr/>
            <p:nvPr/>
          </p:nvSpPr>
          <p:spPr>
            <a:xfrm>
              <a:off x="609600" y="5334000"/>
              <a:ext cx="10972800" cy="51435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4000"/>
              </a:scheme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9442" y="5512118"/>
              <a:ext cx="5880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AI 표기 유무를 사전 테스트하고 사람의 관여를 보이는 제작으로 완충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512445"/>
            <a:ext cx="10982324" cy="5929312"/>
            <a:chOff x="604838" y="512445"/>
            <a:chExt cx="10982324" cy="5929312"/>
          </a:xfrm>
        </p:grpSpPr>
        <p:sp>
          <p:nvSpPr>
            <p:cNvPr id="21" name="TextBox 21"/>
            <p:cNvSpPr txBox="1"/>
            <p:nvPr/>
          </p:nvSpPr>
          <p:spPr>
            <a:xfrm>
              <a:off x="11171758" y="512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07 / 16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4838" y="6265545"/>
              <a:ext cx="24245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Deloitte NL · 메조미디어 · 공정거래위원회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6953250" y="-476250"/>
            <a:ext cx="5715000" cy="5715000"/>
          </a:xfrm>
          <a:prstGeom prst="ellipse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593598" y="762952"/>
            <a:ext cx="4751714" cy="4327399"/>
            <a:chOff x="593598" y="762952"/>
            <a:chExt cx="4751714" cy="4327399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762952"/>
              <a:ext cx="1312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셋째 — 에이전틱 AI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1279208"/>
              <a:ext cx="475171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하겠다는 조직은 많은데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3598" y="1831658"/>
              <a:ext cx="38612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해낸 조직은 극소수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290226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투자 중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3598" y="3298508"/>
              <a:ext cx="8557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dk1"/>
                  </a:solidFill>
                  <a:latin typeface="Pretendard"/>
                  <a:ea typeface="Pretendard"/>
                  <a:cs typeface="Pretendard"/>
                </a:rPr>
                <a:t>88%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9642" y="290226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현재 최고 성숙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60498" y="3298508"/>
              <a:ext cx="8557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2"/>
                  </a:solidFill>
                  <a:latin typeface="Pretendard"/>
                  <a:ea typeface="Pretendard"/>
                  <a:cs typeface="Pretendard"/>
                </a:rPr>
                <a:t>11%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4369118"/>
              <a:ext cx="3793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병목은 기술 부채 63%와 가치 증명 어려움 55%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4826318"/>
              <a:ext cx="2694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연말 기대 50%와 현재 사이 39%p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0" y="1905000"/>
            <a:ext cx="3429000" cy="2286000"/>
            <a:chOff x="7620000" y="1905000"/>
            <a:chExt cx="3429000" cy="2286000"/>
          </a:xfrm>
        </p:grpSpPr>
        <p:sp>
          <p:nvSpPr>
            <p:cNvPr id="13" name="Rectangle 13"/>
            <p:cNvSpPr/>
            <p:nvPr/>
          </p:nvSpPr>
          <p:spPr>
            <a:xfrm>
              <a:off x="7620000" y="1905000"/>
              <a:ext cx="3429000" cy="2286000"/>
            </a:xfrm>
            <a:prstGeom prst="roundRect">
              <a:avLst>
                <a:gd name="adj" fmla="val 9167"/>
              </a:avLst>
            </a:prstGeom>
            <a:solidFill>
              <a:srgbClr val="FFFFFF">
                <a:alpha val="6000"/>
              </a:srgbClr>
            </a:solidFill>
            <a:ln w="9525">
              <a:solidFill>
                <a:schemeClr val="accent2">
                  <a:alpha val="45000"/>
                </a:scheme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17942" y="223551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기술 투자 수익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08798" y="2803208"/>
              <a:ext cx="121193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2"/>
                  </a:solidFill>
                  <a:latin typeface="Pretendard"/>
                  <a:ea typeface="Malgun Gothic"/>
                  <a:cs typeface="Pretendard"/>
                </a:rPr>
                <a:t>4.5배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17942" y="3416618"/>
              <a:ext cx="795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상위 조직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13392" y="34166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평균 2배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512445"/>
            <a:ext cx="10982324" cy="5929312"/>
            <a:chOff x="604838" y="512445"/>
            <a:chExt cx="10982324" cy="5929312"/>
          </a:xfrm>
        </p:grpSpPr>
        <p:sp>
          <p:nvSpPr>
            <p:cNvPr id="19" name="TextBox 19"/>
            <p:cNvSpPr txBox="1"/>
            <p:nvPr/>
          </p:nvSpPr>
          <p:spPr>
            <a:xfrm>
              <a:off x="11171758" y="512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08 / 16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4838" y="6265545"/>
              <a:ext cx="23704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KPMG · McKinsey · 유럽 마케팅 리더 조사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667702"/>
            <a:ext cx="5330546" cy="960883"/>
            <a:chOff x="593598" y="667702"/>
            <a:chExt cx="5330546" cy="96088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667702"/>
              <a:ext cx="1264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넷째 — 마케팅 예산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12508"/>
              <a:ext cx="53305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숫자로 못 보여주면 깎인다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9600" y="1952625"/>
            <a:ext cx="4953000" cy="3333750"/>
            <a:chOff x="609600" y="1952625"/>
            <a:chExt cx="4953000" cy="3333750"/>
          </a:xfrm>
        </p:grpSpPr>
        <p:sp>
          <p:nvSpPr>
            <p:cNvPr id="5" name="Rectangle 5"/>
            <p:cNvSpPr/>
            <p:nvPr/>
          </p:nvSpPr>
          <p:spPr>
            <a:xfrm>
              <a:off x="609600" y="1952625"/>
              <a:ext cx="4953000" cy="3333750"/>
            </a:xfrm>
            <a:prstGeom prst="roundRect">
              <a:avLst>
                <a:gd name="adj" fmla="val 5143"/>
              </a:avLst>
            </a:prstGeom>
            <a:solidFill>
              <a:srgbClr val="FFFFFF">
                <a:alpha val="5000"/>
              </a:srgbClr>
            </a:solidFill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6780" y="2238375"/>
              <a:ext cx="1085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수익성 우선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8398" y="2822258"/>
              <a:ext cx="200793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1"/>
                  </a:solidFill>
                  <a:latin typeface="Pretendard"/>
                  <a:ea typeface="Pretendard"/>
                  <a:cs typeface="Pretendard"/>
                </a:rPr>
                <a:t>CMO 33%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8398" y="3546158"/>
              <a:ext cx="232507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2"/>
                  </a:solidFill>
                  <a:latin typeface="Pretendard"/>
                  <a:ea typeface="Malgun Gothic"/>
                  <a:cs typeface="Pretendard"/>
                </a:rPr>
                <a:t>경영진 67%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7542" y="4445318"/>
              <a:ext cx="2358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재무 언어의 어긋남부터 진단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91200" y="1952625"/>
            <a:ext cx="5791200" cy="3333750"/>
            <a:chOff x="5791200" y="1952625"/>
            <a:chExt cx="5791200" cy="3333750"/>
          </a:xfrm>
        </p:grpSpPr>
        <p:sp>
          <p:nvSpPr>
            <p:cNvPr id="11" name="Rectangle 11"/>
            <p:cNvSpPr/>
            <p:nvPr/>
          </p:nvSpPr>
          <p:spPr>
            <a:xfrm>
              <a:off x="5791200" y="1952625"/>
              <a:ext cx="5791200" cy="3333750"/>
            </a:xfrm>
            <a:prstGeom prst="roundRect">
              <a:avLst>
                <a:gd name="adj" fmla="val 5143"/>
              </a:avLst>
            </a:prstGeom>
            <a:solidFill>
              <a:schemeClr val="accent1">
                <a:alpha val="10000"/>
              </a:schemeClr>
            </a:solidFill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88380" y="2238375"/>
              <a:ext cx="1893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연환산 총주주수익률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79998" y="2822258"/>
              <a:ext cx="21247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3"/>
                  </a:solidFill>
                  <a:latin typeface="Pretendard"/>
                  <a:ea typeface="Malgun Gothic"/>
                  <a:cs typeface="Pretendard"/>
                </a:rPr>
                <a:t>낙후 9.0%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79998" y="3546158"/>
              <a:ext cx="23695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선도 16.1%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89142" y="4445318"/>
              <a:ext cx="2985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함께 나타난 결과 — 인과 입증은 아님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4838" y="512445"/>
            <a:ext cx="10982324" cy="5929312"/>
            <a:chOff x="604838" y="512445"/>
            <a:chExt cx="10982324" cy="5929312"/>
          </a:xfrm>
        </p:grpSpPr>
        <p:sp>
          <p:nvSpPr>
            <p:cNvPr id="17" name="TextBox 17"/>
            <p:cNvSpPr txBox="1"/>
            <p:nvPr/>
          </p:nvSpPr>
          <p:spPr>
            <a:xfrm>
              <a:off x="11171758" y="512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09 / 16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4838" y="6265545"/>
              <a:ext cx="26507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PwC × ANA · McKinsey · 유럽 마케팅 리더 조사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898398" y="1907858"/>
            <a:ext cx="5909379" cy="1938337"/>
            <a:chOff x="898398" y="1907858"/>
            <a:chExt cx="5909379" cy="1938337"/>
          </a:xfrm>
        </p:grpSpPr>
        <p:sp>
          <p:nvSpPr>
            <p:cNvPr id="2" name="TextBox 2"/>
            <p:cNvSpPr txBox="1"/>
            <p:nvPr/>
          </p:nvSpPr>
          <p:spPr>
            <a:xfrm>
              <a:off x="898398" y="1907858"/>
              <a:ext cx="14669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PART Ⅱ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898398" y="2803208"/>
              <a:ext cx="590937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아직 판단하기 이른 다섯 가지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06780" y="3552825"/>
              <a:ext cx="3488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무엇이 확인되면 진짜인지 함께 적었다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239125" y="2714625"/>
            <a:ext cx="2476500" cy="190500"/>
            <a:chOff x="8239125" y="2714625"/>
            <a:chExt cx="2476500" cy="190500"/>
          </a:xfrm>
        </p:grpSpPr>
        <p:sp>
          <p:nvSpPr>
            <p:cNvPr id="6" name="Ellipse 6"/>
            <p:cNvSpPr/>
            <p:nvPr/>
          </p:nvSpPr>
          <p:spPr>
            <a:xfrm>
              <a:off x="8239125" y="2714625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810625" y="27146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382125" y="2714625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953625" y="2714625"/>
              <a:ext cx="190500" cy="190500"/>
            </a:xfrm>
            <a:prstGeom prst="ellipse">
              <a:avLst/>
            </a:prstGeom>
            <a:solidFill>
              <a:srgbClr val="2C335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525125" y="2714625"/>
              <a:ext cx="190500" cy="190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04838" y="512445"/>
            <a:ext cx="10982324" cy="5929312"/>
            <a:chOff x="604838" y="512445"/>
            <a:chExt cx="10982324" cy="5929312"/>
          </a:xfrm>
        </p:grpSpPr>
        <p:sp>
          <p:nvSpPr>
            <p:cNvPr id="12" name="TextBox 12"/>
            <p:cNvSpPr txBox="1"/>
            <p:nvPr/>
          </p:nvSpPr>
          <p:spPr>
            <a:xfrm>
              <a:off x="11171758" y="512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10 / 16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4838" y="6265545"/>
              <a:ext cx="21819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© 2026 Peppinch · All rights reserved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648652"/>
            <a:ext cx="5909379" cy="941833"/>
            <a:chOff x="593598" y="648652"/>
            <a:chExt cx="5909379" cy="94183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648652"/>
              <a:ext cx="8261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chemeClr val="accent1"/>
                  </a:solidFill>
                  <a:latin typeface="Pretendard"/>
                  <a:ea typeface="Pretendard"/>
                  <a:cs typeface="Pretendard"/>
                </a:rPr>
                <a:t>WATCH LIST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74408"/>
              <a:ext cx="590937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아직 지켜보는 중인 다섯 가지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1733550"/>
            <a:ext cx="10972800" cy="4000500"/>
            <a:chOff x="609600" y="1733550"/>
            <a:chExt cx="10972800" cy="4000500"/>
          </a:xfrm>
        </p:grpSpPr>
        <p:sp>
          <p:nvSpPr>
            <p:cNvPr id="5" name="Rectangle 5"/>
            <p:cNvSpPr/>
            <p:nvPr/>
          </p:nvSpPr>
          <p:spPr>
            <a:xfrm>
              <a:off x="609600" y="1733550"/>
              <a:ext cx="10972800" cy="4000500"/>
            </a:xfrm>
            <a:prstGeom prst="roundRect">
              <a:avLst>
                <a:gd name="adj" fmla="val 3810"/>
              </a:avLst>
            </a:prstGeom>
            <a:solidFill>
              <a:srgbClr val="FFFFFF">
                <a:alpha val="4000"/>
              </a:srgbClr>
            </a:solidFill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733550"/>
              <a:ext cx="10972800" cy="514350"/>
            </a:xfrm>
            <a:prstGeom prst="roundRect">
              <a:avLst>
                <a:gd name="adj" fmla="val 29630"/>
              </a:avLst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1342" y="19116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항목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9642" y="19116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지금은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374892" y="1911668"/>
              <a:ext cx="102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확인할 신호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13392" y="19116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예상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914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09600" y="3581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" y="4248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09600" y="4914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1342" y="2521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소셜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69642" y="252126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주 426분, 발견 창구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74892" y="2521268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독립 조사 2건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613392" y="2521268"/>
              <a:ext cx="795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발견 채널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1342" y="31880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크리에이터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69642" y="318801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상시 운영 조짐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4892" y="3188018"/>
              <a:ext cx="1258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기관 통계·공시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13392" y="3188018"/>
              <a:ext cx="795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상시 채널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1342" y="38547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리테일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69642" y="3854768"/>
              <a:ext cx="1631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한국 공식 통계 없음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4892" y="3854768"/>
              <a:ext cx="1631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광고 매출 분리 공시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13392" y="3854768"/>
              <a:ext cx="795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정식 예산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342" y="45215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팬덤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69642" y="4521518"/>
              <a:ext cx="1703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미국 80%, 한국 없음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74892" y="452151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한국 지출 조사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13392" y="4521518"/>
              <a:ext cx="795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구매 기준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1342" y="5188268"/>
              <a:ext cx="795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소비 심리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69642" y="518826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낙관 77% → 67%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74892" y="518826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국내 독립 조사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13392" y="5188268"/>
              <a:ext cx="976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완만한 하향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4838" y="512445"/>
            <a:ext cx="10982324" cy="5929312"/>
            <a:chOff x="604838" y="512445"/>
            <a:chExt cx="10982324" cy="5929312"/>
          </a:xfrm>
        </p:grpSpPr>
        <p:sp>
          <p:nvSpPr>
            <p:cNvPr id="36" name="TextBox 36"/>
            <p:cNvSpPr txBox="1"/>
            <p:nvPr/>
          </p:nvSpPr>
          <p:spPr>
            <a:xfrm>
              <a:off x="11171758" y="512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11 / 16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4838" y="6265545"/>
              <a:ext cx="29661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GWI · Deloitte · 통계청 재인용 · Foresight Factory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98398" y="1869758"/>
            <a:ext cx="6933467" cy="2433637"/>
            <a:chOff x="898398" y="1869758"/>
            <a:chExt cx="6933467" cy="2433637"/>
          </a:xfrm>
        </p:grpSpPr>
        <p:sp>
          <p:nvSpPr>
            <p:cNvPr id="2" name="TextBox 2"/>
            <p:cNvSpPr txBox="1"/>
            <p:nvPr/>
          </p:nvSpPr>
          <p:spPr>
            <a:xfrm>
              <a:off x="898398" y="1869758"/>
              <a:ext cx="14669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PART Ⅲ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898398" y="2784158"/>
              <a:ext cx="69334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네 가지 변화가 가리키는 같은 결론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06780" y="3571875"/>
              <a:ext cx="47908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결론 — 성과를 숫자로 보여준 소수가 예산을 가져간다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4010025"/>
              <a:ext cx="3488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chemeClr val="accent2"/>
                  </a:solidFill>
                  <a:latin typeface="Pretendard"/>
                  <a:ea typeface="Malgun Gothic"/>
                  <a:cs typeface="Pretendard"/>
                </a:rPr>
                <a:t>제언 — 그래서 뭘 해야 하나, 다섯 가지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4838" y="512445"/>
            <a:ext cx="10982324" cy="5929312"/>
            <a:chOff x="604838" y="512445"/>
            <a:chExt cx="10982324" cy="5929312"/>
          </a:xfrm>
        </p:grpSpPr>
        <p:sp>
          <p:nvSpPr>
            <p:cNvPr id="7" name="TextBox 7"/>
            <p:cNvSpPr txBox="1"/>
            <p:nvPr/>
          </p:nvSpPr>
          <p:spPr>
            <a:xfrm>
              <a:off x="11171758" y="512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12 / 16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4838" y="6265545"/>
              <a:ext cx="21819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© 2026 Peppinch · All rights reserved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724852"/>
            <a:ext cx="9159745" cy="941833"/>
            <a:chOff x="593598" y="724852"/>
            <a:chExt cx="9159745" cy="94183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724852"/>
              <a:ext cx="8966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chemeClr val="accent1"/>
                  </a:solidFill>
                  <a:latin typeface="Pretendard"/>
                  <a:ea typeface="Pretendard"/>
                  <a:cs typeface="Pretendard"/>
                </a:rPr>
                <a:t>CONCLUSION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50608"/>
              <a:ext cx="915974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성과를 숫자로 보여준 소수가 예산을 가져간다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962150"/>
            <a:ext cx="10972800" cy="2076450"/>
            <a:chOff x="609600" y="1962150"/>
            <a:chExt cx="10972800" cy="2076450"/>
          </a:xfrm>
        </p:grpSpPr>
        <p:sp>
          <p:nvSpPr>
            <p:cNvPr id="5" name="Rectangle 5"/>
            <p:cNvSpPr/>
            <p:nvPr/>
          </p:nvSpPr>
          <p:spPr>
            <a:xfrm>
              <a:off x="609600" y="1962150"/>
              <a:ext cx="3352800" cy="2076450"/>
            </a:xfrm>
            <a:prstGeom prst="roundRect">
              <a:avLst>
                <a:gd name="adj" fmla="val 8257"/>
              </a:avLst>
            </a:prstGeom>
            <a:solidFill>
              <a:srgbClr val="FFFFFF">
                <a:alpha val="5000"/>
              </a:srgbClr>
            </a:solidFill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9442" y="2216468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에이전틱 AI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6394" y="2761298"/>
              <a:ext cx="1163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50% 기대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6394" y="3180398"/>
              <a:ext cx="1163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accent3"/>
                  </a:solidFill>
                  <a:latin typeface="Pretendard"/>
                  <a:ea typeface="Malgun Gothic"/>
                  <a:cs typeface="Pretendard"/>
                </a:rPr>
                <a:t>11% 현재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0" y="1962150"/>
              <a:ext cx="3352800" cy="2076450"/>
            </a:xfrm>
            <a:prstGeom prst="roundRect">
              <a:avLst>
                <a:gd name="adj" fmla="val 8257"/>
              </a:avLst>
            </a:prstGeom>
            <a:solidFill>
              <a:srgbClr val="FFFFFF">
                <a:alpha val="5000"/>
              </a:srgbClr>
            </a:solidFill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450842" y="2216468"/>
              <a:ext cx="1060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AI 광고 신뢰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47794" y="2761298"/>
              <a:ext cx="1163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16% 긍정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47794" y="3180398"/>
              <a:ext cx="1163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B42318"/>
                  </a:solidFill>
                  <a:latin typeface="Pretendard"/>
                  <a:ea typeface="Malgun Gothic"/>
                  <a:cs typeface="Pretendard"/>
                </a:rPr>
                <a:t>33% 부정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72400" y="1962150"/>
              <a:ext cx="3810000" cy="2076450"/>
            </a:xfrm>
            <a:prstGeom prst="roundRect">
              <a:avLst>
                <a:gd name="adj" fmla="val 8257"/>
              </a:avLst>
            </a:prstGeom>
            <a:solidFill>
              <a:srgbClr val="FFFFFF">
                <a:alpha val="5000"/>
              </a:srgbClr>
            </a:solidFill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32242" y="2216468"/>
              <a:ext cx="976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마케팅 예산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29194" y="2761298"/>
              <a:ext cx="179765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72% 증액 계획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29194" y="3180398"/>
              <a:ext cx="179765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accent3"/>
                  </a:solidFill>
                  <a:latin typeface="Pretendard"/>
                  <a:ea typeface="Malgun Gothic"/>
                  <a:cs typeface="Pretendard"/>
                </a:rPr>
                <a:t>49% 전년 실적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4476750"/>
            <a:ext cx="10972800" cy="1200150"/>
            <a:chOff x="609600" y="4476750"/>
            <a:chExt cx="10972800" cy="1200150"/>
          </a:xfrm>
        </p:grpSpPr>
        <p:sp>
          <p:nvSpPr>
            <p:cNvPr id="18" name="Rectangle 18"/>
            <p:cNvSpPr/>
            <p:nvPr/>
          </p:nvSpPr>
          <p:spPr>
            <a:xfrm>
              <a:off x="609600" y="4476750"/>
              <a:ext cx="10972800" cy="1200150"/>
            </a:xfrm>
            <a:prstGeom prst="roundRect">
              <a:avLst>
                <a:gd name="adj" fmla="val 17460"/>
              </a:avLst>
            </a:prstGeom>
            <a:solidFill>
              <a:schemeClr val="accent1">
                <a:alpha val="14000"/>
              </a:schemeClr>
            </a:solidFill>
            <a:ln w="9525">
              <a:solidFill>
                <a:schemeClr val="accent1">
                  <a:alpha val="45000"/>
                </a:scheme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4810125"/>
              <a:ext cx="3882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상위 조직 기술 투자 수익 4.5배 · 평균 2배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4494" y="5199698"/>
              <a:ext cx="50087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차이를 만드는 건 성과를 잴 줄 아는 능력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4838" y="512445"/>
            <a:ext cx="10982324" cy="5929312"/>
            <a:chOff x="604838" y="512445"/>
            <a:chExt cx="10982324" cy="5929312"/>
          </a:xfrm>
        </p:grpSpPr>
        <p:sp>
          <p:nvSpPr>
            <p:cNvPr id="22" name="TextBox 22"/>
            <p:cNvSpPr txBox="1"/>
            <p:nvPr/>
          </p:nvSpPr>
          <p:spPr>
            <a:xfrm>
              <a:off x="11171758" y="512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13 / 16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4838" y="6265545"/>
              <a:ext cx="213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KPMG · 메조미디어 · McKinsey · PwC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648652"/>
            <a:ext cx="6287846" cy="941833"/>
            <a:chOff x="593598" y="648652"/>
            <a:chExt cx="6287846" cy="94183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648652"/>
              <a:ext cx="5203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chemeClr val="accent1"/>
                  </a:solidFill>
                  <a:latin typeface="Pretendard"/>
                  <a:ea typeface="Pretendard"/>
                  <a:cs typeface="Pretendard"/>
                </a:rPr>
                <a:t>ACTION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74408"/>
              <a:ext cx="62878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그래서 뭘 해야 하나, 다섯 가지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733550"/>
            <a:ext cx="10972800" cy="3752850"/>
            <a:chOff x="609600" y="1733550"/>
            <a:chExt cx="10972800" cy="3752850"/>
          </a:xfrm>
        </p:grpSpPr>
        <p:sp>
          <p:nvSpPr>
            <p:cNvPr id="5" name="Rectangle 5"/>
            <p:cNvSpPr/>
            <p:nvPr/>
          </p:nvSpPr>
          <p:spPr>
            <a:xfrm>
              <a:off x="609600" y="1733550"/>
              <a:ext cx="10972800" cy="628650"/>
            </a:xfrm>
            <a:prstGeom prst="roundRect">
              <a:avLst>
                <a:gd name="adj" fmla="val 21212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8294" y="19230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21892" y="1968818"/>
              <a:ext cx="31668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내년 예산은 시장 성장 가정 0에서 시작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2514600"/>
              <a:ext cx="10972800" cy="628650"/>
            </a:xfrm>
            <a:prstGeom prst="roundRect">
              <a:avLst>
                <a:gd name="adj" fmla="val 21212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8294" y="27041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21892" y="2749868"/>
              <a:ext cx="4257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AI 경유 유입 10% 전까지 검색 광고는 소액 테스트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3295650"/>
              <a:ext cx="10972800" cy="628650"/>
            </a:xfrm>
            <a:prstGeom prst="roundRect">
              <a:avLst>
                <a:gd name="adj" fmla="val 21212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8294" y="34851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21892" y="3530918"/>
              <a:ext cx="3422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‘AI로 만든 광고’ 표기 유무를 미리 시험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4076700"/>
              <a:ext cx="10972800" cy="628650"/>
            </a:xfrm>
            <a:prstGeom prst="roundRect">
              <a:avLst>
                <a:gd name="adj" fmla="val 21212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8294" y="42662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1892" y="4311968"/>
              <a:ext cx="4478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돈으로 연결 안 되는 AI 실험은 줄이고 측정부터 구축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4857750"/>
              <a:ext cx="10972800" cy="628650"/>
            </a:xfrm>
            <a:prstGeom prst="roundRect">
              <a:avLst>
                <a:gd name="adj" fmla="val 21212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8294" y="50472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21892" y="5093018"/>
              <a:ext cx="37869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증액 얘기 전에 CFO와 수익성 기준부터 맞춤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512445"/>
            <a:ext cx="10982324" cy="5929312"/>
            <a:chOff x="604838" y="512445"/>
            <a:chExt cx="10982324" cy="5929312"/>
          </a:xfrm>
        </p:grpSpPr>
        <p:sp>
          <p:nvSpPr>
            <p:cNvPr id="21" name="TextBox 21"/>
            <p:cNvSpPr txBox="1"/>
            <p:nvPr/>
          </p:nvSpPr>
          <p:spPr>
            <a:xfrm>
              <a:off x="11171758" y="512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14 / 16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4838" y="6265545"/>
              <a:ext cx="29960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운영 임계값은 자사 기준선·손익 산식으로 보정 후 적용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667702"/>
            <a:ext cx="922515" cy="941833"/>
            <a:chOff x="593598" y="667702"/>
            <a:chExt cx="922515" cy="94183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667702"/>
              <a:ext cx="645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chemeClr val="accent1"/>
                  </a:solidFill>
                  <a:latin typeface="Pretendard"/>
                  <a:ea typeface="Pretendard"/>
                  <a:cs typeface="Pretendard"/>
                </a:rPr>
                <a:t>SOURCES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9345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출처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809750"/>
            <a:ext cx="10972800" cy="3619500"/>
            <a:chOff x="609600" y="1809750"/>
            <a:chExt cx="10972800" cy="3619500"/>
          </a:xfrm>
        </p:grpSpPr>
        <p:sp>
          <p:nvSpPr>
            <p:cNvPr id="5" name="Rectangle 5"/>
            <p:cNvSpPr/>
            <p:nvPr/>
          </p:nvSpPr>
          <p:spPr>
            <a:xfrm>
              <a:off x="609600" y="1809750"/>
              <a:ext cx="5257800" cy="3619500"/>
            </a:xfrm>
            <a:prstGeom prst="roundRect">
              <a:avLst>
                <a:gd name="adj" fmla="val 4737"/>
              </a:avLst>
            </a:prstGeom>
            <a:solidFill>
              <a:srgbClr val="FFFFFF">
                <a:alpha val="4000"/>
              </a:srgbClr>
            </a:solidFill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9442" y="2064068"/>
              <a:ext cx="1072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chemeClr val="accent1"/>
                  </a:solidFill>
                  <a:latin typeface="Pretendard"/>
                  <a:ea typeface="Malgun Gothic"/>
                  <a:cs typeface="Pretendard"/>
                </a:rPr>
                <a:t>글로벌·산업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70204" y="2480310"/>
              <a:ext cx="3642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chemeClr val="dk1"/>
                  </a:solidFill>
                  <a:latin typeface="Pretendard"/>
                  <a:ea typeface="Pretendard"/>
                  <a:cs typeface="Pretendard"/>
                </a:rPr>
                <a:t>WPP Media · Deloitte · KPMG · PwC · McKinsey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204" y="2842260"/>
              <a:ext cx="2872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chemeClr val="dk1"/>
                  </a:solidFill>
                  <a:latin typeface="Pretendard"/>
                  <a:ea typeface="Pretendard"/>
                  <a:cs typeface="Pretendard"/>
                </a:rPr>
                <a:t>GWI · Foresight Factory · Havas Red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204" y="3204210"/>
              <a:ext cx="31453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chemeClr val="dk1"/>
                  </a:solidFill>
                  <a:latin typeface="Pretendard"/>
                  <a:ea typeface="Pretendard"/>
                  <a:cs typeface="Pretendard"/>
                </a:rPr>
                <a:t>Social Trends · Influencer Trends · AMA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204" y="3775710"/>
              <a:ext cx="37246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로컬 코퍼스 기반 출처는 URL 공란을 그대로 유지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0" y="1809750"/>
              <a:ext cx="5486400" cy="3619500"/>
            </a:xfrm>
            <a:prstGeom prst="roundRect">
              <a:avLst>
                <a:gd name="adj" fmla="val 4737"/>
              </a:avLst>
            </a:prstGeom>
            <a:solidFill>
              <a:srgbClr val="FFFFFF">
                <a:alpha val="4000"/>
              </a:srgbClr>
            </a:solidFill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55842" y="2064068"/>
              <a:ext cx="881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chemeClr val="accent2"/>
                  </a:solidFill>
                  <a:latin typeface="Pretendard"/>
                  <a:ea typeface="Malgun Gothic"/>
                  <a:cs typeface="Pretendard"/>
                </a:rPr>
                <a:t>한국·공식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56604" y="2480310"/>
              <a:ext cx="35015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방송통신광고비 조사 · 통계청 · 공정거래위원회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56604" y="2842260"/>
              <a:ext cx="2806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메조미디어 · 나스미디어 · 오픈서베이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56604" y="3204210"/>
              <a:ext cx="3238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NAVER IR · 한국광고주협회 · WGSN 한국판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56604" y="3775710"/>
              <a:ext cx="3146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총 32개 출처 · 118개 검증 수치 레지스트리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4838" y="5808345"/>
            <a:ext cx="3910813" cy="176212"/>
            <a:chOff x="604838" y="5808345"/>
            <a:chExt cx="3910813" cy="176212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5808345"/>
              <a:ext cx="39108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98A2C0"/>
                  </a:solidFill>
                  <a:latin typeface="Pretendard"/>
                  <a:ea typeface="Malgun Gothic"/>
                  <a:cs typeface="Pretendard"/>
                </a:rPr>
                <a:t>공개 1차 자료와 원문 리포트를 교차 검증 · 문의 pepper@peppinch.com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171758" y="5124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-KR" sz="900" dirty="0">
                <a:solidFill>
                  <a:srgbClr val="98A2C0"/>
                </a:solidFill>
                <a:latin typeface="Pretendard"/>
                <a:ea typeface="Pretendard"/>
                <a:cs typeface="Pretendard"/>
              </a:rPr>
              <a:t>15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429000" y="762000"/>
            <a:ext cx="5334000" cy="5334000"/>
            <a:chOff x="3429000" y="762000"/>
            <a:chExt cx="5334000" cy="5334000"/>
          </a:xfrm>
        </p:grpSpPr>
        <p:sp>
          <p:nvSpPr>
            <p:cNvPr id="2" name="Ellipse 2"/>
            <p:cNvSpPr/>
            <p:nvPr/>
          </p:nvSpPr>
          <p:spPr>
            <a:xfrm>
              <a:off x="3429000" y="762000"/>
              <a:ext cx="5334000" cy="5334000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84814" y="2553652"/>
            <a:ext cx="2622372" cy="1831849"/>
            <a:chOff x="4784814" y="2553652"/>
            <a:chExt cx="2622372" cy="1831849"/>
          </a:xfrm>
        </p:grpSpPr>
        <p:sp>
          <p:nvSpPr>
            <p:cNvPr id="5" name="TextBox 5"/>
            <p:cNvSpPr txBox="1"/>
            <p:nvPr/>
          </p:nvSpPr>
          <p:spPr>
            <a:xfrm>
              <a:off x="5014798" y="2553652"/>
              <a:ext cx="21624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050" b="1" spc="150" dirty="0">
                  <a:solidFill>
                    <a:schemeClr val="accent1"/>
                  </a:solidFill>
                  <a:latin typeface="Pretendard"/>
                  <a:ea typeface="Pretendard"/>
                  <a:cs typeface="Pretendard"/>
                </a:rPr>
                <a:t>MARKETING TRENDS 2026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784814" y="3358515"/>
              <a:ext cx="26223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3300" b="1" dirty="0">
                  <a:solidFill>
                    <a:schemeClr val="dk1"/>
                  </a:solidFill>
                  <a:latin typeface="Pretendard"/>
                  <a:ea typeface="Malgun Gothic"/>
                  <a:cs typeface="Pretendard"/>
                </a:rPr>
                <a:t>감사합니다.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44110" y="4121468"/>
              <a:ext cx="1903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pepper@peppinch.com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4838" y="512445"/>
            <a:ext cx="10982324" cy="5929312"/>
            <a:chOff x="604838" y="512445"/>
            <a:chExt cx="10982324" cy="5929312"/>
          </a:xfrm>
        </p:grpSpPr>
        <p:sp>
          <p:nvSpPr>
            <p:cNvPr id="9" name="TextBox 9"/>
            <p:cNvSpPr txBox="1"/>
            <p:nvPr/>
          </p:nvSpPr>
          <p:spPr>
            <a:xfrm>
              <a:off x="11171758" y="512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16 / 16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4838" y="6265545"/>
              <a:ext cx="21819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98A2C0"/>
                  </a:solidFill>
                  <a:latin typeface="Pretendard"/>
                  <a:ea typeface="Pretendard"/>
                  <a:cs typeface="Pretendard"/>
                </a:rPr>
                <a:t>© 2026 Peppinch · All rights reserved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ject">
  <a:themeElements>
    <a:clrScheme name="project">
      <a:dk1>
        <a:srgbClr val="EEF1FB"/>
      </a:dk1>
      <a:lt1>
        <a:srgbClr val="0D1220"/>
      </a:lt1>
      <a:dk2>
        <a:srgbClr val="1F497D"/>
      </a:dk2>
      <a:lt2>
        <a:srgbClr val="0D1220"/>
      </a:lt2>
      <a:accent1>
        <a:srgbClr val="6E8BFF"/>
      </a:accent1>
      <a:accent2>
        <a:srgbClr val="B49BF2"/>
      </a:accent2>
      <a:accent3>
        <a:srgbClr val="4A5578"/>
      </a:accent3>
      <a:accent4>
        <a:srgbClr val="6E8BFF"/>
      </a:accent4>
      <a:accent5>
        <a:srgbClr val="161D31"/>
      </a:accent5>
      <a:accent6>
        <a:srgbClr val="F79646"/>
      </a:accent6>
      <a:hlink>
        <a:srgbClr val="B49BF2"/>
      </a:hlink>
      <a:folHlink>
        <a:srgbClr val="4A5578"/>
      </a:folHlink>
    </a:clrScheme>
    <a:fontScheme name="project">
      <a:majorFont>
        <a:latin typeface="Pretendard"/>
        <a:ea typeface="Noto Sans KR"/>
        <a:cs typeface="Pretendard"/>
        <a:font script="Jpan" typeface="Noto Sans KR"/>
        <a:font script="Hang" typeface="Noto Sans KR"/>
        <a:font script="Hans" typeface="Noto Sans KR"/>
        <a:font script="Hant" typeface="Noto Sans KR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Noto Sans KR"/>
        <a:cs typeface="Pretendard"/>
        <a:font script="Jpan" typeface="Noto Sans KR"/>
        <a:font script="Hang" typeface="Noto Sans KR"/>
        <a:font script="Hans" typeface="Noto Sans KR"/>
        <a:font script="Hant" typeface="Noto Sans KR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ko-KR</dc:language>
  <cp:lastModifiedBy/>
  <cp:revision>1</cp:revision>
  <dcterms:created xsi:type="dcterms:W3CDTF">2026-08-15T10:24:31Z</dcterms:created>
  <dcterms:modified xsi:type="dcterms:W3CDTF">2026-08-15T10:24:31Z</dcterms:modified>
  <cp:category/>
  <cp:contentStatus/>
</cp:coreProperties>
</file>